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32" r:id="rId5"/>
  </p:sldMasterIdLst>
  <p:notesMasterIdLst>
    <p:notesMasterId r:id="rId7"/>
  </p:notesMasterIdLst>
  <p:handoutMasterIdLst>
    <p:handoutMasterId r:id="rId8"/>
  </p:handoutMasterIdLst>
  <p:sldIdLst>
    <p:sldId id="673" r:id="rId6"/>
  </p:sldIdLst>
  <p:sldSz cx="9906000" cy="6858000" type="A4"/>
  <p:notesSz cx="6797675" cy="9926638"/>
  <p:custDataLst>
    <p:tags r:id="rId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storey" initials="j" lastIdx="2" clrIdx="0"/>
  <p:cmAuthor id="1" name="tialbist" initials="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0A3D"/>
    <a:srgbClr val="0070AD"/>
    <a:srgbClr val="12ABDB"/>
    <a:srgbClr val="375599"/>
    <a:srgbClr val="0170AD"/>
    <a:srgbClr val="0061A0"/>
    <a:srgbClr val="3333CC"/>
    <a:srgbClr val="0033CC"/>
    <a:srgbClr val="00789E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8" autoAdjust="0"/>
    <p:restoredTop sz="99821" autoAdjust="0"/>
  </p:normalViewPr>
  <p:slideViewPr>
    <p:cSldViewPr>
      <p:cViewPr>
        <p:scale>
          <a:sx n="90" d="100"/>
          <a:sy n="90" d="100"/>
        </p:scale>
        <p:origin x="696" y="12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0" d="100"/>
          <a:sy n="70" d="100"/>
        </p:scale>
        <p:origin x="2556" y="5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D2645AB-2211-40DE-977D-FE031B8BA926}" type="datetimeFigureOut">
              <a:rPr lang="en-US"/>
              <a:pPr>
                <a:defRPr/>
              </a:pPr>
              <a:t>10/23/2023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7B51ABB-B884-46DE-B143-CE08E60FF83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4965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0E24EEB6-D400-451D-A79E-4799567FBCFB}" type="datetimeFigureOut">
              <a:rPr lang="en-US"/>
              <a:pPr>
                <a:defRPr/>
              </a:pPr>
              <a:t>10/23/2023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6125"/>
            <a:ext cx="537527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5638"/>
          </a:xfrm>
          <a:prstGeom prst="rect">
            <a:avLst/>
          </a:prstGeom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A212AB4F-AD05-4AF2-A769-782B19B14D8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09854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1182655-162A-40D0-A842-8F04CDA930AE}"/>
              </a:ext>
            </a:extLst>
          </p:cNvPr>
          <p:cNvSpPr/>
          <p:nvPr userDrawn="1"/>
        </p:nvSpPr>
        <p:spPr bwMode="auto">
          <a:xfrm>
            <a:off x="0" y="0"/>
            <a:ext cx="2000672" cy="6858000"/>
          </a:xfrm>
          <a:prstGeom prst="rect">
            <a:avLst/>
          </a:prstGeom>
          <a:solidFill>
            <a:srgbClr val="2B0A3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Rectangle 127"/>
          <p:cNvSpPr txBox="1">
            <a:spLocks noChangeArrowheads="1"/>
          </p:cNvSpPr>
          <p:nvPr userDrawn="1"/>
        </p:nvSpPr>
        <p:spPr>
          <a:xfrm>
            <a:off x="8561893" y="6600599"/>
            <a:ext cx="1344107" cy="29703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Arial" charset="0"/>
              </a:rPr>
              <a:t>©2022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Arial" charset="0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Arial" charset="0"/>
              </a:rPr>
              <a:t>Capgemini</a:t>
            </a: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Arial" charset="0"/>
            </a:endParaRPr>
          </a:p>
        </p:txBody>
      </p:sp>
      <p:sp>
        <p:nvSpPr>
          <p:cNvPr id="15" name="Rectangle 127"/>
          <p:cNvSpPr txBox="1">
            <a:spLocks noChangeArrowheads="1"/>
          </p:cNvSpPr>
          <p:nvPr userDrawn="1"/>
        </p:nvSpPr>
        <p:spPr>
          <a:xfrm>
            <a:off x="2273152" y="6601852"/>
            <a:ext cx="1344107" cy="29703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Arial" charset="0"/>
              </a:rPr>
              <a:t>CONFIDENTIAL</a:t>
            </a: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Arial" charset="0"/>
            </a:endParaRPr>
          </a:p>
        </p:txBody>
      </p:sp>
      <p:sp>
        <p:nvSpPr>
          <p:cNvPr id="12" name="Round Diagonal Corner Rectangle 11"/>
          <p:cNvSpPr/>
          <p:nvPr userDrawn="1"/>
        </p:nvSpPr>
        <p:spPr>
          <a:xfrm>
            <a:off x="4187758" y="6571649"/>
            <a:ext cx="2962210" cy="288032"/>
          </a:xfrm>
          <a:prstGeom prst="round2DiagRect">
            <a:avLst/>
          </a:prstGeom>
          <a:solidFill>
            <a:srgbClr val="2B0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2"/>
                </a:solidFill>
                <a:latin typeface="Ubuntu" panose="020B0504030602030204" pitchFamily="34" charset="0"/>
              </a:rPr>
              <a:t>Cloud &amp; Custom Applications</a:t>
            </a:r>
          </a:p>
        </p:txBody>
      </p:sp>
      <p:pic>
        <p:nvPicPr>
          <p:cNvPr id="13" name="Graphic 9">
            <a:extLst>
              <a:ext uri="{FF2B5EF4-FFF2-40B4-BE49-F238E27FC236}">
                <a16:creationId xmlns:a16="http://schemas.microsoft.com/office/drawing/2014/main" id="{C3D2EC56-D17C-4A75-8178-C69397BC73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480" y="6428122"/>
            <a:ext cx="1444388" cy="322247"/>
          </a:xfrm>
          <a:prstGeom prst="rect">
            <a:avLst/>
          </a:prstGeom>
        </p:spPr>
      </p:pic>
      <p:pic>
        <p:nvPicPr>
          <p:cNvPr id="16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9345488" y="157914"/>
            <a:ext cx="424356" cy="459624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14C1D0A-5F4A-40DF-8F17-0C50A39CDD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23" y="267767"/>
            <a:ext cx="1243630" cy="69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00398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Rectangle 24"/>
          <p:cNvSpPr>
            <a:spLocks noChangeArrowheads="1"/>
          </p:cNvSpPr>
          <p:nvPr/>
        </p:nvSpPr>
        <p:spPr bwMode="white">
          <a:xfrm>
            <a:off x="0" y="6278563"/>
            <a:ext cx="9906000" cy="579437"/>
          </a:xfrm>
          <a:prstGeom prst="rect">
            <a:avLst/>
          </a:prstGeom>
          <a:solidFill>
            <a:schemeClr val="bg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47" name="Freeform 23"/>
          <p:cNvSpPr>
            <a:spLocks/>
          </p:cNvSpPr>
          <p:nvPr/>
        </p:nvSpPr>
        <p:spPr bwMode="auto">
          <a:xfrm>
            <a:off x="-15875" y="-14288"/>
            <a:ext cx="3457575" cy="123507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" y="405"/>
              </a:cxn>
              <a:cxn ang="0">
                <a:pos x="1048" y="0"/>
              </a:cxn>
              <a:cxn ang="0">
                <a:pos x="0" y="0"/>
              </a:cxn>
            </a:cxnLst>
            <a:rect l="0" t="0" r="r" b="b"/>
            <a:pathLst>
              <a:path w="1048" h="405">
                <a:moveTo>
                  <a:pt x="0" y="0"/>
                </a:moveTo>
                <a:cubicBezTo>
                  <a:pt x="1" y="405"/>
                  <a:pt x="1" y="405"/>
                  <a:pt x="1" y="405"/>
                </a:cubicBezTo>
                <a:cubicBezTo>
                  <a:pt x="32" y="191"/>
                  <a:pt x="804" y="1"/>
                  <a:pt x="1048" y="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16200000" scaled="1"/>
            <a:tileRect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050" name="Rectangle 26"/>
          <p:cNvSpPr>
            <a:spLocks noChangeArrowheads="1"/>
          </p:cNvSpPr>
          <p:nvPr/>
        </p:nvSpPr>
        <p:spPr bwMode="auto">
          <a:xfrm>
            <a:off x="0" y="6281738"/>
            <a:ext cx="9906000" cy="17462"/>
          </a:xfrm>
          <a:prstGeom prst="rect">
            <a:avLst/>
          </a:prstGeom>
          <a:gradFill rotWithShape="1">
            <a:gsLst>
              <a:gs pos="0">
                <a:schemeClr val="tx2">
                  <a:gamma/>
                  <a:tint val="22353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8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1836" t="-4713" b="16530"/>
          <a:stretch/>
        </p:blipFill>
        <p:spPr>
          <a:xfrm>
            <a:off x="9273480" y="143626"/>
            <a:ext cx="424356" cy="459624"/>
          </a:xfrm>
          <a:prstGeom prst="rect">
            <a:avLst/>
          </a:prstGeom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C3D2EC56-D17C-4A75-8178-C69397BC73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480" y="6428122"/>
            <a:ext cx="1444388" cy="32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3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cs typeface="Arial" charset="0"/>
        </a:defRPr>
      </a:lvl5pPr>
      <a:lvl6pPr marL="1712913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cs typeface="Arial" charset="0"/>
        </a:defRPr>
      </a:lvl6pPr>
      <a:lvl7pPr marL="2170113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cs typeface="Arial" charset="0"/>
        </a:defRPr>
      </a:lvl7pPr>
      <a:lvl8pPr marL="2627313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cs typeface="Arial" charset="0"/>
        </a:defRPr>
      </a:lvl8pPr>
      <a:lvl9pPr marL="3084513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76213" indent="-176213" algn="l" defTabSz="7143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60363" indent="-184150" algn="l" defTabSz="71437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>
          <a:solidFill>
            <a:schemeClr val="accent1"/>
          </a:solidFill>
          <a:latin typeface="+mn-lt"/>
          <a:cs typeface="+mn-cs"/>
        </a:defRPr>
      </a:lvl2pPr>
      <a:lvl3pPr marL="534988" indent="-174625" algn="l" defTabSz="714375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Font typeface="Arial" charset="0"/>
        <a:buChar char="•"/>
        <a:defRPr sz="1600">
          <a:solidFill>
            <a:schemeClr val="bg1"/>
          </a:solidFill>
          <a:latin typeface="+mn-lt"/>
          <a:cs typeface="+mn-cs"/>
        </a:defRPr>
      </a:lvl3pPr>
      <a:lvl4pPr marL="1554163" indent="-228600" algn="l" defTabSz="714375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Ø"/>
        <a:defRPr sz="2000">
          <a:solidFill>
            <a:schemeClr val="bg2"/>
          </a:solidFill>
          <a:latin typeface="+mn-lt"/>
          <a:cs typeface="+mn-cs"/>
        </a:defRPr>
      </a:lvl4pPr>
      <a:lvl5pPr marL="2230438" indent="-228600" algn="l" defTabSz="714375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687638" indent="-228600" algn="l" defTabSz="714375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3144838" indent="-228600" algn="l" defTabSz="714375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602038" indent="-228600" algn="l" defTabSz="714375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4059238" indent="-228600" algn="l" defTabSz="714375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8" name="Rectangle 12"/>
          <p:cNvSpPr>
            <a:spLocks noChangeArrowheads="1"/>
          </p:cNvSpPr>
          <p:nvPr/>
        </p:nvSpPr>
        <p:spPr bwMode="auto">
          <a:xfrm>
            <a:off x="2498341" y="3875885"/>
            <a:ext cx="7056314" cy="2598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46038" anchor="t"/>
          <a:lstStyle/>
          <a:p>
            <a:pPr marL="36000" indent="-171450"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900" dirty="0">
                <a:latin typeface="Ubuntu"/>
                <a:cs typeface="Arial"/>
              </a:rPr>
              <a:t>6 years of experience in testing Middleware and API Technologies using CI pipeline</a:t>
            </a:r>
          </a:p>
          <a:p>
            <a:pPr marL="36000" indent="-171450"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900" dirty="0">
                <a:latin typeface="Ubuntu"/>
                <a:cs typeface="Arial"/>
              </a:rPr>
              <a:t>End to End Automation using Ready API and Performance Testing using JMeter</a:t>
            </a:r>
          </a:p>
          <a:p>
            <a:pPr marL="36000" indent="-171450"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900" dirty="0">
                <a:latin typeface="Ubuntu"/>
                <a:cs typeface="Arial"/>
              </a:rPr>
              <a:t>Analysed Skilled at implementing testing techniques &amp; strategies , Agile  methodology, managed services, planning &amp; Analysis </a:t>
            </a:r>
          </a:p>
          <a:p>
            <a:pPr marL="36000" indent="-171450"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900" b="0" i="0" u="none" strike="noStrike" baseline="0" dirty="0">
                <a:solidFill>
                  <a:srgbClr val="000000"/>
                </a:solidFill>
                <a:latin typeface="Ubuntu"/>
                <a:cs typeface="Arial"/>
              </a:rPr>
              <a:t>Have successfully managed the delivery of  automation, performance and functional testing </a:t>
            </a:r>
          </a:p>
          <a:p>
            <a:pPr marL="36000" indent="-171450"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900" dirty="0">
                <a:solidFill>
                  <a:srgbClr val="000000"/>
                </a:solidFill>
                <a:latin typeface="Ubuntu"/>
                <a:cs typeface="Arial"/>
              </a:rPr>
              <a:t>Strong ability to manage complex and critical projects ( impacting 25+ systems) with a risk-based approach to deliver it to meet the aggressive timescale for time to market </a:t>
            </a:r>
          </a:p>
          <a:p>
            <a:pPr marL="36000" indent="-171450"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900" b="0" i="0" u="none" strike="noStrike" baseline="0" dirty="0">
                <a:solidFill>
                  <a:srgbClr val="000000"/>
                </a:solidFill>
                <a:latin typeface="Ubuntu"/>
                <a:cs typeface="Arial"/>
              </a:rPr>
              <a:t>Have an </a:t>
            </a:r>
            <a:r>
              <a:rPr lang="en-IN" sz="900" dirty="0">
                <a:solidFill>
                  <a:srgbClr val="000000"/>
                </a:solidFill>
                <a:latin typeface="Ubuntu"/>
                <a:cs typeface="Arial"/>
              </a:rPr>
              <a:t>unwavering commitment to client service with the ability to build productive relationships, resolve complex issues and win consumer loyalty with good communication and interpersonal skills </a:t>
            </a:r>
          </a:p>
          <a:p>
            <a:pPr marL="36000" indent="-171450"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900" b="0" i="0" u="none" strike="noStrike" baseline="0" dirty="0">
                <a:solidFill>
                  <a:srgbClr val="000000"/>
                </a:solidFill>
                <a:latin typeface="Ubuntu"/>
                <a:cs typeface="Arial"/>
              </a:rPr>
              <a:t>Test lead and man</a:t>
            </a:r>
            <a:r>
              <a:rPr lang="en-IN" sz="900" dirty="0">
                <a:solidFill>
                  <a:srgbClr val="000000"/>
                </a:solidFill>
                <a:latin typeface="Ubuntu"/>
                <a:cs typeface="Arial"/>
              </a:rPr>
              <a:t>agement experience with a variety of teams regularly deputised for the test manager. This includes some training</a:t>
            </a:r>
          </a:p>
          <a:p>
            <a:pPr marL="36000" indent="-171450"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900" dirty="0">
                <a:solidFill>
                  <a:srgbClr val="000000"/>
                </a:solidFill>
                <a:latin typeface="Ubuntu"/>
                <a:cs typeface="Arial"/>
              </a:rPr>
              <a:t>s</a:t>
            </a:r>
            <a:r>
              <a:rPr lang="en-IN" sz="900" b="0" i="0" u="none" strike="noStrike" baseline="0" dirty="0">
                <a:solidFill>
                  <a:srgbClr val="000000"/>
                </a:solidFill>
                <a:latin typeface="Ubuntu"/>
                <a:cs typeface="Arial"/>
              </a:rPr>
              <a:t>etting tasks</a:t>
            </a:r>
            <a:r>
              <a:rPr lang="en-IN" sz="900" dirty="0">
                <a:solidFill>
                  <a:srgbClr val="000000"/>
                </a:solidFill>
                <a:latin typeface="Ubuntu"/>
                <a:cs typeface="Arial"/>
              </a:rPr>
              <a:t>, and deadlines and being the main point of contact at each phase in SDLC.</a:t>
            </a:r>
          </a:p>
          <a:p>
            <a:pPr marL="36000" indent="-171450"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900" b="0" i="0" u="none" strike="noStrike" baseline="0" dirty="0">
                <a:solidFill>
                  <a:srgbClr val="000000"/>
                </a:solidFill>
                <a:latin typeface="Ubuntu"/>
                <a:cs typeface="Arial"/>
              </a:rPr>
              <a:t>Taking owner</a:t>
            </a:r>
            <a:r>
              <a:rPr lang="en-IN" sz="900" dirty="0">
                <a:solidFill>
                  <a:srgbClr val="000000"/>
                </a:solidFill>
                <a:latin typeface="Ubuntu"/>
                <a:cs typeface="Arial"/>
              </a:rPr>
              <a:t>ship of each test deliverable and providing updates to senior management, whilst ensuring key stakeholders are kept informed and at ease during the wholesale process </a:t>
            </a:r>
          </a:p>
          <a:p>
            <a:pPr marL="36000" indent="-171450"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900" dirty="0">
                <a:solidFill>
                  <a:srgbClr val="000000"/>
                </a:solidFill>
                <a:latin typeface="Ubuntu"/>
                <a:cs typeface="Arial"/>
              </a:rPr>
              <a:t>Hands-on experience in integration, validation of specifications, designing traceability matrix, manual test case scripting, test case review, test case execution, defect &amp; issue reporting and defect tracking &amp; follow-up.  </a:t>
            </a:r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6000" indent="-171450"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endParaRPr lang="en-IN" sz="900" dirty="0">
              <a:latin typeface="Ubuntu"/>
              <a:cs typeface="Arial"/>
            </a:endParaRP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</a:p>
          <a:p>
            <a:pPr marL="36000" indent="-171450">
              <a:lnSpc>
                <a:spcPts val="1300"/>
              </a:lnSpc>
              <a:spcBef>
                <a:spcPts val="0"/>
              </a:spcBef>
              <a:spcAft>
                <a:spcPct val="50000"/>
              </a:spcAft>
              <a:buClr>
                <a:srgbClr val="0070AD"/>
              </a:buClr>
              <a:buFont typeface="Wingdings" panose="05000000000000000000" pitchFamily="2" charset="2"/>
              <a:buChar char="§"/>
            </a:pPr>
            <a:endParaRPr lang="en-GB" sz="900" dirty="0">
              <a:latin typeface="Ubuntu"/>
              <a:cs typeface="Arial"/>
            </a:endParaRP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430" y="1391650"/>
            <a:ext cx="1987744" cy="2446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180975" indent="-180975">
              <a:defRPr/>
            </a:pPr>
            <a:r>
              <a:rPr lang="en-GB" sz="900" b="1" dirty="0">
                <a:solidFill>
                  <a:schemeClr val="bg2"/>
                </a:solidFill>
                <a:latin typeface="Ubuntu" panose="020B0504030602030204" pitchFamily="34" charset="0"/>
              </a:rPr>
              <a:t>Qualifications &amp; Certification</a:t>
            </a:r>
          </a:p>
          <a:p>
            <a:pPr marL="180975" indent="-180975">
              <a:defRPr/>
            </a:pPr>
            <a:endParaRPr lang="en-GB" sz="900" b="1" dirty="0">
              <a:solidFill>
                <a:schemeClr val="bg2"/>
              </a:solidFill>
              <a:latin typeface="Ubuntu" panose="020B0504030602030204" pitchFamily="34" charset="0"/>
            </a:endParaRPr>
          </a:p>
          <a:p>
            <a:pPr>
              <a:defRPr/>
            </a:pPr>
            <a:r>
              <a:rPr lang="en-GB" sz="900" b="1" dirty="0">
                <a:solidFill>
                  <a:schemeClr val="bg2"/>
                </a:solidFill>
                <a:latin typeface="Ubuntu" panose="020B0504030602030204" pitchFamily="34" charset="0"/>
              </a:rPr>
              <a:t>Engagement Manager Level 1</a:t>
            </a:r>
          </a:p>
          <a:p>
            <a:pPr>
              <a:defRPr/>
            </a:pPr>
            <a:r>
              <a:rPr lang="en-US" sz="900" b="1" dirty="0">
                <a:solidFill>
                  <a:schemeClr val="bg2"/>
                </a:solidFill>
                <a:latin typeface="Ubuntu" panose="020B0504030602030204" pitchFamily="34" charset="0"/>
              </a:rPr>
              <a:t>Bachelor in Engineering </a:t>
            </a:r>
          </a:p>
          <a:p>
            <a:pPr>
              <a:defRPr/>
            </a:pPr>
            <a:r>
              <a:rPr lang="en-IN" sz="900" b="1" dirty="0">
                <a:solidFill>
                  <a:schemeClr val="bg2"/>
                </a:solidFill>
                <a:latin typeface="Ubuntu" panose="020B0504030602030204" pitchFamily="34" charset="0"/>
              </a:rPr>
              <a:t>Safe Scrum Master Certified</a:t>
            </a:r>
          </a:p>
          <a:p>
            <a:pPr>
              <a:defRPr/>
            </a:pPr>
            <a:r>
              <a:rPr lang="en-IN" sz="900" b="1" dirty="0">
                <a:solidFill>
                  <a:schemeClr val="bg2"/>
                </a:solidFill>
                <a:latin typeface="Ubuntu" panose="020B0504030602030204" pitchFamily="34" charset="0"/>
              </a:rPr>
              <a:t>Azure Cloud Practioner </a:t>
            </a:r>
          </a:p>
          <a:p>
            <a:pPr>
              <a:defRPr/>
            </a:pPr>
            <a:r>
              <a:rPr lang="en-IN" sz="900" b="1" dirty="0">
                <a:solidFill>
                  <a:schemeClr val="bg2"/>
                </a:solidFill>
                <a:latin typeface="Ubuntu" panose="020B0504030602030204" pitchFamily="34" charset="0"/>
              </a:rPr>
              <a:t>CSM Agile certification </a:t>
            </a:r>
          </a:p>
          <a:p>
            <a:pPr>
              <a:defRPr/>
            </a:pPr>
            <a:r>
              <a:rPr lang="en-IN" sz="900" b="1" dirty="0">
                <a:solidFill>
                  <a:schemeClr val="bg2"/>
                </a:solidFill>
                <a:latin typeface="Ubuntu" panose="020B0504030602030204" pitchFamily="34" charset="0"/>
              </a:rPr>
              <a:t>ISTQB Foundation Certification</a:t>
            </a:r>
          </a:p>
          <a:p>
            <a:pPr>
              <a:defRPr/>
            </a:pPr>
            <a:r>
              <a:rPr lang="en-IN" sz="900" b="1" dirty="0">
                <a:solidFill>
                  <a:schemeClr val="bg2"/>
                </a:solidFill>
                <a:latin typeface="Ubuntu" panose="020B0504030602030204" pitchFamily="34" charset="0"/>
              </a:rPr>
              <a:t>Connected Manager program by Harward University </a:t>
            </a:r>
          </a:p>
          <a:p>
            <a:pPr>
              <a:defRPr/>
            </a:pPr>
            <a:endParaRPr lang="en-GB" sz="900" b="1" dirty="0">
              <a:solidFill>
                <a:schemeClr val="bg2"/>
              </a:solidFill>
              <a:latin typeface="Ubuntu" panose="020B0504030602030204" pitchFamily="34" charset="0"/>
            </a:endParaRPr>
          </a:p>
          <a:p>
            <a:pPr marL="180975" indent="-180975">
              <a:defRPr/>
            </a:pPr>
            <a:r>
              <a:rPr lang="en-GB" sz="900" b="1" dirty="0">
                <a:solidFill>
                  <a:schemeClr val="bg2"/>
                </a:solidFill>
                <a:latin typeface="Ubuntu" panose="020B0504030602030204" pitchFamily="34" charset="0"/>
              </a:rPr>
              <a:t>Key Roles</a:t>
            </a:r>
          </a:p>
          <a:p>
            <a:pPr marL="180975" indent="-180975">
              <a:buFontTx/>
              <a:buChar char="•"/>
              <a:defRPr/>
            </a:pPr>
            <a:r>
              <a:rPr lang="en-GB" sz="900" dirty="0">
                <a:solidFill>
                  <a:schemeClr val="bg2"/>
                </a:solidFill>
                <a:latin typeface="Ubuntu" panose="020B0504030602030204" pitchFamily="34" charset="0"/>
              </a:rPr>
              <a:t>Delivery &amp; Project Management </a:t>
            </a:r>
          </a:p>
          <a:p>
            <a:pPr marL="180975" indent="-180975">
              <a:buFontTx/>
              <a:buChar char="•"/>
              <a:defRPr/>
            </a:pPr>
            <a:endParaRPr lang="en-GB" sz="900" dirty="0">
              <a:solidFill>
                <a:schemeClr val="bg2"/>
              </a:solidFill>
              <a:latin typeface="Ubuntu" panose="020B0504030602030204" pitchFamily="34" charset="0"/>
            </a:endParaRPr>
          </a:p>
          <a:p>
            <a:pPr>
              <a:defRPr/>
            </a:pPr>
            <a:r>
              <a:rPr lang="en-GB" sz="900" b="1" dirty="0">
                <a:solidFill>
                  <a:schemeClr val="bg2"/>
                </a:solidFill>
                <a:latin typeface="Ubuntu" panose="020B0504030602030204" pitchFamily="34" charset="0"/>
              </a:rPr>
              <a:t>Location</a:t>
            </a:r>
          </a:p>
          <a:p>
            <a:pPr marL="180975" indent="-180975">
              <a:buFontTx/>
              <a:buChar char="•"/>
              <a:defRPr/>
            </a:pPr>
            <a:r>
              <a:rPr lang="en-GB" sz="900" dirty="0">
                <a:solidFill>
                  <a:schemeClr val="bg2"/>
                </a:solidFill>
                <a:latin typeface="Ubuntu" panose="020B0504030602030204" pitchFamily="34" charset="0"/>
              </a:rPr>
              <a:t>INDIA</a:t>
            </a:r>
          </a:p>
        </p:txBody>
      </p:sp>
      <p:sp>
        <p:nvSpPr>
          <p:cNvPr id="15364" name="Rectangle 8"/>
          <p:cNvSpPr>
            <a:spLocks noChangeArrowheads="1"/>
          </p:cNvSpPr>
          <p:nvPr/>
        </p:nvSpPr>
        <p:spPr bwMode="gray">
          <a:xfrm>
            <a:off x="2519301" y="764704"/>
            <a:ext cx="230346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Font typeface="EYInterstate" pitchFamily="2" charset="0"/>
              <a:buNone/>
              <a:defRPr/>
            </a:pPr>
            <a:r>
              <a:rPr lang="en-GB" sz="1100" b="1" dirty="0">
                <a:solidFill>
                  <a:srgbClr val="0070AD"/>
                </a:solidFill>
                <a:latin typeface="Ubuntu Medium" panose="020B0604030602030204" pitchFamily="34" charset="0"/>
                <a:sym typeface="Arial Unicode MS" pitchFamily="34" charset="-128"/>
              </a:rPr>
              <a:t>Profile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2519301" y="941357"/>
            <a:ext cx="7200900" cy="571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t"/>
          <a:lstStyle/>
          <a:p>
            <a:pPr algn="l"/>
            <a:r>
              <a:rPr lang="en-IN" sz="1000" dirty="0">
                <a:latin typeface="Calibri" panose="020F0502020204030204" pitchFamily="34" charset="0"/>
                <a:cs typeface="Times New Roman" panose="02020603050405020304" pitchFamily="18" charset="0"/>
              </a:rPr>
              <a:t>Overall experience of 15 years working with direct client-facing role in the UK Region. Area of expertise in Test delivery management and leading test teams in large engagements. Have excellent leadership stakeholder and Delivery management skills.</a:t>
            </a:r>
          </a:p>
        </p:txBody>
      </p:sp>
      <p:sp>
        <p:nvSpPr>
          <p:cNvPr id="15366" name="Rectangle 8"/>
          <p:cNvSpPr>
            <a:spLocks noChangeArrowheads="1"/>
          </p:cNvSpPr>
          <p:nvPr/>
        </p:nvSpPr>
        <p:spPr bwMode="gray">
          <a:xfrm>
            <a:off x="2544129" y="1660056"/>
            <a:ext cx="374613" cy="716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Font typeface="EYInterstate" pitchFamily="2" charset="0"/>
              <a:buNone/>
              <a:defRPr/>
            </a:pPr>
            <a:r>
              <a:rPr lang="en-GB" sz="1100" b="1" dirty="0">
                <a:solidFill>
                  <a:srgbClr val="0070AD"/>
                </a:solidFill>
                <a:latin typeface="Ubuntu Medium" panose="020B0604030602030204" pitchFamily="34" charset="0"/>
                <a:sym typeface="Arial Unicode MS" pitchFamily="34" charset="-128"/>
              </a:rPr>
              <a:t>Skills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gray">
          <a:xfrm>
            <a:off x="7473873" y="1669237"/>
            <a:ext cx="1958319" cy="689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Font typeface="EYInterstate" pitchFamily="2" charset="0"/>
              <a:buNone/>
              <a:defRPr/>
            </a:pPr>
            <a:r>
              <a:rPr lang="en-GB" sz="1100" b="1" dirty="0">
                <a:solidFill>
                  <a:srgbClr val="0070AD"/>
                </a:solidFill>
                <a:latin typeface="Ubuntu Medium" panose="020B0604030602030204" pitchFamily="34" charset="0"/>
                <a:sym typeface="Arial Unicode MS" pitchFamily="34" charset="-128"/>
              </a:rPr>
              <a:t>Industry</a:t>
            </a:r>
            <a:r>
              <a:rPr lang="en-GB" sz="1100" b="1" dirty="0">
                <a:solidFill>
                  <a:schemeClr val="tx2"/>
                </a:solidFill>
                <a:latin typeface="Ubuntu Medium" panose="020B0604030602030204" pitchFamily="34" charset="0"/>
                <a:sym typeface="Arial Unicode MS" pitchFamily="34" charset="-128"/>
              </a:rPr>
              <a:t> </a:t>
            </a:r>
            <a:r>
              <a:rPr lang="en-GB" sz="1100" b="1" dirty="0">
                <a:solidFill>
                  <a:srgbClr val="0070AD"/>
                </a:solidFill>
                <a:latin typeface="Ubuntu Medium" panose="020B0604030602030204" pitchFamily="34" charset="0"/>
                <a:sym typeface="Arial Unicode MS" pitchFamily="34" charset="-128"/>
              </a:rPr>
              <a:t>Experience</a:t>
            </a:r>
          </a:p>
        </p:txBody>
      </p:sp>
      <p:sp>
        <p:nvSpPr>
          <p:cNvPr id="15370" name="Rectangle 8"/>
          <p:cNvSpPr>
            <a:spLocks noChangeArrowheads="1"/>
          </p:cNvSpPr>
          <p:nvPr/>
        </p:nvSpPr>
        <p:spPr bwMode="gray">
          <a:xfrm>
            <a:off x="2548161" y="3595774"/>
            <a:ext cx="4665662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Font typeface="EYInterstate" pitchFamily="2" charset="0"/>
              <a:buNone/>
              <a:defRPr/>
            </a:pPr>
            <a:r>
              <a:rPr lang="en-GB" sz="1100" b="1" dirty="0">
                <a:solidFill>
                  <a:srgbClr val="0070AD"/>
                </a:solidFill>
                <a:latin typeface="Ubuntu Medium" panose="020B0604030602030204" pitchFamily="34" charset="0"/>
                <a:sym typeface="Arial Unicode MS" pitchFamily="34" charset="-128"/>
              </a:rPr>
              <a:t>Recent Professional Experience</a:t>
            </a:r>
          </a:p>
        </p:txBody>
      </p:sp>
      <p:sp>
        <p:nvSpPr>
          <p:cNvPr id="15379" name="Text Box 6"/>
          <p:cNvSpPr txBox="1">
            <a:spLocks noChangeArrowheads="1"/>
          </p:cNvSpPr>
          <p:nvPr/>
        </p:nvSpPr>
        <p:spPr bwMode="auto">
          <a:xfrm>
            <a:off x="4903220" y="1981079"/>
            <a:ext cx="2368234" cy="1598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193675" indent="-1936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952500" algn="l"/>
                <a:tab pos="2098675" algn="l"/>
                <a:tab pos="3616325" algn="r"/>
              </a:tabLst>
            </a:pPr>
            <a:r>
              <a:rPr lang="en-GB" sz="900" dirty="0">
                <a:solidFill>
                  <a:srgbClr val="052B73"/>
                </a:solidFill>
                <a:latin typeface="Calibri" pitchFamily="34" charset="0"/>
                <a:sym typeface="Arial" charset="0"/>
              </a:rPr>
              <a:t>JIRA, Confluence</a:t>
            </a:r>
          </a:p>
          <a:p>
            <a:pPr marL="193675" indent="-1936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952500" algn="l"/>
                <a:tab pos="2098675" algn="l"/>
                <a:tab pos="3616325" algn="r"/>
              </a:tabLst>
            </a:pPr>
            <a:r>
              <a:rPr lang="en-GB" sz="900" dirty="0">
                <a:solidFill>
                  <a:srgbClr val="052B73"/>
                </a:solidFill>
                <a:latin typeface="Calibri" pitchFamily="34" charset="0"/>
                <a:sym typeface="Arial" charset="0"/>
              </a:rPr>
              <a:t>Microfocus ALM, Zephyr</a:t>
            </a:r>
          </a:p>
          <a:p>
            <a:pPr marL="193675" indent="-1936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952500" algn="l"/>
                <a:tab pos="2098675" algn="l"/>
                <a:tab pos="3616325" algn="r"/>
              </a:tabLst>
            </a:pPr>
            <a:r>
              <a:rPr lang="en-GB" sz="900" dirty="0">
                <a:solidFill>
                  <a:srgbClr val="052B73"/>
                </a:solidFill>
                <a:latin typeface="Calibri" pitchFamily="34" charset="0"/>
                <a:sym typeface="Arial" charset="0"/>
              </a:rPr>
              <a:t>Jenkins</a:t>
            </a:r>
          </a:p>
          <a:p>
            <a:pPr marL="193675" indent="-1936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952500" algn="l"/>
                <a:tab pos="2098675" algn="l"/>
                <a:tab pos="3616325" algn="r"/>
              </a:tabLst>
            </a:pPr>
            <a:r>
              <a:rPr lang="en-GB" sz="900" dirty="0">
                <a:solidFill>
                  <a:srgbClr val="052B73"/>
                </a:solidFill>
                <a:latin typeface="Calibri" pitchFamily="34" charset="0"/>
                <a:sym typeface="Arial" charset="0"/>
              </a:rPr>
              <a:t>Azure DevOps </a:t>
            </a:r>
          </a:p>
          <a:p>
            <a:pPr marL="193675" indent="-1936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952500" algn="l"/>
                <a:tab pos="2098675" algn="l"/>
                <a:tab pos="3616325" algn="r"/>
              </a:tabLst>
            </a:pPr>
            <a:r>
              <a:rPr lang="en-GB" sz="900" dirty="0">
                <a:solidFill>
                  <a:srgbClr val="052B73"/>
                </a:solidFill>
                <a:latin typeface="Calibri" pitchFamily="34" charset="0"/>
                <a:sym typeface="Arial" charset="0"/>
              </a:rPr>
              <a:t>Oracle, SQL</a:t>
            </a:r>
          </a:p>
          <a:p>
            <a:pPr marL="193675" indent="-1936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952500" algn="l"/>
                <a:tab pos="2098675" algn="l"/>
                <a:tab pos="3616325" algn="r"/>
              </a:tabLst>
            </a:pPr>
            <a:r>
              <a:rPr lang="en-GB" sz="900" dirty="0">
                <a:solidFill>
                  <a:srgbClr val="052B73"/>
                </a:solidFill>
                <a:latin typeface="Calibri" pitchFamily="34" charset="0"/>
                <a:sym typeface="Arial" charset="0"/>
              </a:rPr>
              <a:t>Unix/Windows</a:t>
            </a:r>
          </a:p>
          <a:p>
            <a:pPr marL="193675" indent="-1936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952500" algn="l"/>
                <a:tab pos="2098675" algn="l"/>
                <a:tab pos="3616325" algn="r"/>
              </a:tabLst>
            </a:pPr>
            <a:endParaRPr lang="en-GB" sz="900" dirty="0">
              <a:solidFill>
                <a:srgbClr val="052B73"/>
              </a:solidFill>
              <a:latin typeface="Calibri" pitchFamily="34" charset="0"/>
              <a:sym typeface="Arial" charset="0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2512758" y="1943612"/>
            <a:ext cx="2368234" cy="165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193675" indent="-193675">
              <a:spcBef>
                <a:spcPts val="300"/>
              </a:spcBef>
              <a:buClr>
                <a:srgbClr val="0070AD"/>
              </a:buClr>
              <a:buFont typeface="Wingdings" panose="05000000000000000000" pitchFamily="2" charset="2"/>
              <a:buChar char="§"/>
              <a:tabLst>
                <a:tab pos="952500" algn="l"/>
                <a:tab pos="2098675" algn="l"/>
                <a:tab pos="3616325" algn="r"/>
              </a:tabLst>
            </a:pPr>
            <a:r>
              <a:rPr lang="en-US" sz="900" dirty="0">
                <a:solidFill>
                  <a:srgbClr val="052B73"/>
                </a:solidFill>
                <a:latin typeface="Ubuntu" panose="020B0504030602030204" pitchFamily="34" charset="0"/>
              </a:rPr>
              <a:t>Delivery and Project Management</a:t>
            </a:r>
          </a:p>
          <a:p>
            <a:pPr marL="193675" indent="-193675">
              <a:spcBef>
                <a:spcPts val="300"/>
              </a:spcBef>
              <a:buClr>
                <a:srgbClr val="0070AD"/>
              </a:buClr>
              <a:buFont typeface="Wingdings" panose="05000000000000000000" pitchFamily="2" charset="2"/>
              <a:buChar char="§"/>
              <a:tabLst>
                <a:tab pos="952500" algn="l"/>
                <a:tab pos="2098675" algn="l"/>
                <a:tab pos="3616325" algn="r"/>
              </a:tabLst>
            </a:pPr>
            <a:r>
              <a:rPr lang="en-US" sz="900" dirty="0">
                <a:solidFill>
                  <a:srgbClr val="052B73"/>
                </a:solidFill>
                <a:latin typeface="Ubuntu" panose="020B0504030602030204" pitchFamily="34" charset="0"/>
              </a:rPr>
              <a:t>Testing Methodologies Agile( Scrum and Kanban)</a:t>
            </a:r>
          </a:p>
          <a:p>
            <a:pPr marL="193675" indent="-193675">
              <a:spcBef>
                <a:spcPts val="300"/>
              </a:spcBef>
              <a:buClr>
                <a:srgbClr val="0070AD"/>
              </a:buClr>
              <a:buFont typeface="Wingdings" panose="05000000000000000000" pitchFamily="2" charset="2"/>
              <a:buChar char="§"/>
              <a:tabLst>
                <a:tab pos="952500" algn="l"/>
                <a:tab pos="2098675" algn="l"/>
                <a:tab pos="3616325" algn="r"/>
              </a:tabLst>
            </a:pPr>
            <a:r>
              <a:rPr lang="en-US" sz="900" dirty="0">
                <a:solidFill>
                  <a:srgbClr val="052B73"/>
                </a:solidFill>
                <a:latin typeface="Ubuntu" panose="020B0504030602030204" pitchFamily="34" charset="0"/>
              </a:rPr>
              <a:t>Defect Manager</a:t>
            </a:r>
          </a:p>
          <a:p>
            <a:pPr marL="193675" indent="-193675">
              <a:spcBef>
                <a:spcPts val="300"/>
              </a:spcBef>
              <a:buClr>
                <a:srgbClr val="0070AD"/>
              </a:buClr>
              <a:buFont typeface="Wingdings" panose="05000000000000000000" pitchFamily="2" charset="2"/>
              <a:buChar char="§"/>
              <a:tabLst>
                <a:tab pos="952500" algn="l"/>
                <a:tab pos="2098675" algn="l"/>
                <a:tab pos="3616325" algn="r"/>
              </a:tabLst>
            </a:pPr>
            <a:r>
              <a:rPr lang="en-US" sz="900" dirty="0">
                <a:solidFill>
                  <a:srgbClr val="052B73"/>
                </a:solidFill>
                <a:latin typeface="Ubuntu" panose="020B0504030602030204" pitchFamily="34" charset="0"/>
              </a:rPr>
              <a:t>Participate in planning meetings </a:t>
            </a:r>
            <a:endParaRPr lang="en-IN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93675" indent="-193675">
              <a:spcBef>
                <a:spcPts val="300"/>
              </a:spcBef>
              <a:buClr>
                <a:srgbClr val="0070AD"/>
              </a:buClr>
              <a:buFont typeface="Wingdings" panose="05000000000000000000" pitchFamily="2" charset="2"/>
              <a:buChar char="§"/>
              <a:tabLst>
                <a:tab pos="952500" algn="l"/>
                <a:tab pos="2098675" algn="l"/>
                <a:tab pos="3616325" algn="r"/>
              </a:tabLst>
            </a:pPr>
            <a:r>
              <a:rPr lang="en-IN" sz="900" dirty="0">
                <a:solidFill>
                  <a:srgbClr val="052B73"/>
                </a:solidFill>
                <a:latin typeface="Ubuntu" panose="020B0504030602030204" pitchFamily="34" charset="0"/>
              </a:rPr>
              <a:t>Understanding the business need.</a:t>
            </a:r>
          </a:p>
          <a:p>
            <a:pPr marL="193675" indent="-193675">
              <a:spcBef>
                <a:spcPts val="300"/>
              </a:spcBef>
              <a:buClr>
                <a:srgbClr val="0070AD"/>
              </a:buClr>
              <a:buFont typeface="Wingdings" panose="05000000000000000000" pitchFamily="2" charset="2"/>
              <a:buChar char="§"/>
              <a:tabLst>
                <a:tab pos="952500" algn="l"/>
                <a:tab pos="2098675" algn="l"/>
                <a:tab pos="3616325" algn="r"/>
              </a:tabLst>
            </a:pPr>
            <a:r>
              <a:rPr lang="en-IN" sz="900" dirty="0">
                <a:solidFill>
                  <a:srgbClr val="052B73"/>
                </a:solidFill>
                <a:latin typeface="Ubuntu" panose="020B0504030602030204" pitchFamily="34" charset="0"/>
              </a:rPr>
              <a:t>converting these business needs into developable products.</a:t>
            </a:r>
          </a:p>
          <a:p>
            <a:pPr marL="193675" indent="-193675">
              <a:spcBef>
                <a:spcPts val="300"/>
              </a:spcBef>
              <a:buClr>
                <a:srgbClr val="0070AD"/>
              </a:buClr>
              <a:buFont typeface="Wingdings" panose="05000000000000000000" pitchFamily="2" charset="2"/>
              <a:buChar char="§"/>
              <a:tabLst>
                <a:tab pos="952500" algn="l"/>
                <a:tab pos="2098675" algn="l"/>
                <a:tab pos="3616325" algn="r"/>
              </a:tabLst>
            </a:pPr>
            <a:r>
              <a:rPr lang="en-IN" sz="900" dirty="0">
                <a:solidFill>
                  <a:srgbClr val="052B73"/>
                </a:solidFill>
                <a:latin typeface="Ubuntu" panose="020B0504030602030204" pitchFamily="34" charset="0"/>
              </a:rPr>
              <a:t>API Automation</a:t>
            </a:r>
            <a:endParaRPr lang="en-US" sz="900" dirty="0">
              <a:solidFill>
                <a:srgbClr val="052B73"/>
              </a:solidFill>
              <a:latin typeface="Ubuntu" panose="020B0504030602030204" pitchFamily="34" charset="0"/>
            </a:endParaRPr>
          </a:p>
          <a:p>
            <a:pPr marL="193675" indent="-193675">
              <a:spcBef>
                <a:spcPts val="300"/>
              </a:spcBef>
              <a:buClr>
                <a:srgbClr val="0070AD"/>
              </a:buClr>
              <a:buFont typeface="Wingdings" panose="05000000000000000000" pitchFamily="2" charset="2"/>
              <a:buChar char="§"/>
              <a:tabLst>
                <a:tab pos="952500" algn="l"/>
                <a:tab pos="2098675" algn="l"/>
                <a:tab pos="3616325" algn="r"/>
              </a:tabLst>
            </a:pPr>
            <a:r>
              <a:rPr lang="en-US" sz="900" dirty="0">
                <a:solidFill>
                  <a:srgbClr val="052B73"/>
                </a:solidFill>
                <a:latin typeface="Ubuntu" panose="020B0504030602030204" pitchFamily="34" charset="0"/>
              </a:rPr>
              <a:t>Excellent communication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 idx="4294967295"/>
          </p:nvPr>
        </p:nvSpPr>
        <p:spPr>
          <a:xfrm>
            <a:off x="2201962" y="188640"/>
            <a:ext cx="6665506" cy="566738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Ubuntu Medium" panose="020B0604030602030204" pitchFamily="34" charset="0"/>
              </a:rPr>
              <a:t>Test Manager</a:t>
            </a:r>
            <a:br>
              <a:rPr lang="en-GB" sz="2000" dirty="0">
                <a:solidFill>
                  <a:schemeClr val="tx1"/>
                </a:solidFill>
                <a:latin typeface="Ubuntu Medium" panose="020B0604030602030204" pitchFamily="34" charset="0"/>
              </a:rPr>
            </a:br>
            <a:endParaRPr lang="en-GB" sz="2000" dirty="0">
              <a:solidFill>
                <a:schemeClr val="tx1"/>
              </a:solidFill>
              <a:latin typeface="Ubuntu Medium" panose="020B0604030602030204" pitchFamily="34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gray">
          <a:xfrm>
            <a:off x="4868347" y="1660660"/>
            <a:ext cx="1880523" cy="666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Font typeface="EYInterstate" pitchFamily="2" charset="0"/>
              <a:buNone/>
              <a:defRPr/>
            </a:pPr>
            <a:r>
              <a:rPr lang="en-GB" sz="1100" b="1" dirty="0">
                <a:solidFill>
                  <a:srgbClr val="0070AD"/>
                </a:solidFill>
                <a:latin typeface="Ubuntu Medium" panose="020B0604030602030204" pitchFamily="34" charset="0"/>
                <a:sym typeface="Arial Unicode MS" pitchFamily="34" charset="-128"/>
              </a:rPr>
              <a:t>Technologies / Applications</a:t>
            </a: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7473873" y="1924498"/>
            <a:ext cx="2102966" cy="781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en-US"/>
            </a:defPPr>
            <a:lvl1pPr marL="193675" indent="-193675">
              <a:spcBef>
                <a:spcPts val="300"/>
              </a:spcBef>
              <a:buClr>
                <a:srgbClr val="0070AD"/>
              </a:buClr>
              <a:buFont typeface="Wingdings" panose="05000000000000000000" pitchFamily="2" charset="2"/>
              <a:buChar char="§"/>
              <a:tabLst>
                <a:tab pos="952500" algn="l"/>
                <a:tab pos="2098675" algn="l"/>
                <a:tab pos="3616325" algn="r"/>
              </a:tabLst>
              <a:defRPr sz="900">
                <a:solidFill>
                  <a:srgbClr val="052B73"/>
                </a:solidFill>
                <a:latin typeface="Ubuntu" panose="020B0504030602030204" pitchFamily="34" charset="0"/>
              </a:defRPr>
            </a:lvl1pPr>
          </a:lstStyle>
          <a:p>
            <a:r>
              <a:rPr lang="en-GB" dirty="0">
                <a:sym typeface="Arial" charset="0"/>
              </a:rPr>
              <a:t>Telecom</a:t>
            </a:r>
          </a:p>
          <a:p>
            <a:r>
              <a:rPr lang="en-GB" dirty="0">
                <a:sym typeface="Arial" charset="0"/>
              </a:rPr>
              <a:t>Insurance </a:t>
            </a:r>
          </a:p>
          <a:p>
            <a:r>
              <a:rPr lang="en-GB" dirty="0">
                <a:sym typeface="Arial" charset="0"/>
              </a:rPr>
              <a:t>Retail</a:t>
            </a:r>
          </a:p>
          <a:p>
            <a:r>
              <a:rPr lang="en-GB" dirty="0">
                <a:sym typeface="Arial" charset="0"/>
              </a:rPr>
              <a:t>Postal Services</a:t>
            </a:r>
          </a:p>
        </p:txBody>
      </p:sp>
      <p:sp>
        <p:nvSpPr>
          <p:cNvPr id="23" name="TextBox 19"/>
          <p:cNvSpPr txBox="1"/>
          <p:nvPr/>
        </p:nvSpPr>
        <p:spPr>
          <a:xfrm>
            <a:off x="113730" y="5696245"/>
            <a:ext cx="20882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80975" indent="-180975">
              <a:defRPr/>
            </a:pPr>
            <a:r>
              <a:rPr lang="en-GB" sz="900" b="1" dirty="0">
                <a:solidFill>
                  <a:schemeClr val="bg2"/>
                </a:solidFill>
                <a:latin typeface="Ubuntu" panose="020B0504030602030204" pitchFamily="34" charset="0"/>
              </a:rPr>
              <a:t>Contact Details</a:t>
            </a:r>
          </a:p>
        </p:txBody>
      </p:sp>
      <p:sp>
        <p:nvSpPr>
          <p:cNvPr id="2050" name="AutoShape 2" descr="Image result for incredible hul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052" name="AutoShape 4" descr="Image result for incredible hul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054" name="AutoShape 6" descr="Image result for incredible hul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056" name="AutoShape 8" descr="Image result for incredible hul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BC001EFF-DC31-4E7F-A75E-0B963D19CDC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74433" y="2753279"/>
            <a:ext cx="1886312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Font typeface="EYInterstate" pitchFamily="2" charset="0"/>
              <a:buNone/>
              <a:defRPr/>
            </a:pPr>
            <a:endParaRPr lang="en-GB" sz="1100" b="1" dirty="0">
              <a:solidFill>
                <a:srgbClr val="0070AD"/>
              </a:solidFill>
              <a:latin typeface="Ubuntu Medium" panose="020B0604030602030204" pitchFamily="34" charset="0"/>
              <a:sym typeface="Arial Unicode MS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307F8E-7DA2-35CB-C9F5-15DE3BA10C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173"/>
          <a:stretch/>
        </p:blipFill>
        <p:spPr>
          <a:xfrm>
            <a:off x="34163" y="3886480"/>
            <a:ext cx="1679757" cy="157987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ddab41eecd2acefaf464b47d2fe5babb84beb6a0"/>
  <p:tag name="ISPRING_RESOURCE_PATHS_HASH_PRESENTER" val="ddab41eecd2acefaf464b47d2fe5babb84beb6a0"/>
</p:tagLst>
</file>

<file path=ppt/theme/theme1.xml><?xml version="1.0" encoding="utf-8"?>
<a:theme xmlns:a="http://schemas.openxmlformats.org/drawingml/2006/main" name="1_Capgemini - PPT Template - ITS">
  <a:themeElements>
    <a:clrScheme name="Capgemini  colours">
      <a:dk1>
        <a:srgbClr val="000000"/>
      </a:dk1>
      <a:lt1>
        <a:srgbClr val="009BCC"/>
      </a:lt1>
      <a:dk2>
        <a:srgbClr val="009BCC"/>
      </a:dk2>
      <a:lt2>
        <a:srgbClr val="FFFFFF"/>
      </a:lt2>
      <a:accent1>
        <a:srgbClr val="00553D"/>
      </a:accent1>
      <a:accent2>
        <a:srgbClr val="A79993"/>
      </a:accent2>
      <a:accent3>
        <a:srgbClr val="616365"/>
      </a:accent3>
      <a:accent4>
        <a:srgbClr val="000000"/>
      </a:accent4>
      <a:accent5>
        <a:srgbClr val="009BCC"/>
      </a:accent5>
      <a:accent6>
        <a:srgbClr val="C2CDC5"/>
      </a:accent6>
      <a:hlink>
        <a:srgbClr val="C2CDC5"/>
      </a:hlink>
      <a:folHlink>
        <a:srgbClr val="A79993"/>
      </a:folHlink>
    </a:clrScheme>
    <a:fontScheme name="ppt_Template_Whi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pt_Template_White 1">
        <a:dk1>
          <a:srgbClr val="000000"/>
        </a:dk1>
        <a:lt1>
          <a:srgbClr val="ABE9FF"/>
        </a:lt1>
        <a:dk2>
          <a:srgbClr val="009BCC"/>
        </a:dk2>
        <a:lt2>
          <a:srgbClr val="FFFFFF"/>
        </a:lt2>
        <a:accent1>
          <a:srgbClr val="FDC71E"/>
        </a:accent1>
        <a:accent2>
          <a:srgbClr val="EE7D11"/>
        </a:accent2>
        <a:accent3>
          <a:srgbClr val="D2F2FF"/>
        </a:accent3>
        <a:accent4>
          <a:srgbClr val="000000"/>
        </a:accent4>
        <a:accent5>
          <a:srgbClr val="FEE0AB"/>
        </a:accent5>
        <a:accent6>
          <a:srgbClr val="D8710E"/>
        </a:accent6>
        <a:hlink>
          <a:srgbClr val="CBD300"/>
        </a:hlink>
        <a:folHlink>
          <a:srgbClr val="8F143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SharedWithUsers xmlns="18d28957-8436-4bf0-b47f-66e45e3e1df9">
      <UserInfo>
        <DisplayName>Page, Kevin</DisplayName>
        <AccountId>26</AccountId>
        <AccountType/>
      </UserInfo>
      <UserInfo>
        <DisplayName>Smith, Ruth</DisplayName>
        <AccountId>12</AccountId>
        <AccountType/>
      </UserInfo>
      <UserInfo>
        <DisplayName>Wright, Alexandra Clare</DisplayName>
        <AccountId>24</AccountId>
        <AccountType/>
      </UserInfo>
    </SharedWithUsers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64FA928BD31D4B882E19CD7E61262D" ma:contentTypeVersion="13" ma:contentTypeDescription="Create a new document." ma:contentTypeScope="" ma:versionID="e17d6681974dc7e075775ea6ce06545e">
  <xsd:schema xmlns:xsd="http://www.w3.org/2001/XMLSchema" xmlns:xs="http://www.w3.org/2001/XMLSchema" xmlns:p="http://schemas.microsoft.com/office/2006/metadata/properties" xmlns:ns2="002450ca-4f19-4ad8-a8d0-442464c34c09" xmlns:ns3="18d28957-8436-4bf0-b47f-66e45e3e1df9" targetNamespace="http://schemas.microsoft.com/office/2006/metadata/properties" ma:root="true" ma:fieldsID="815396f807121f4aa145d0396741c3e6" ns2:_="" ns3:_="">
    <xsd:import namespace="002450ca-4f19-4ad8-a8d0-442464c34c09"/>
    <xsd:import namespace="18d28957-8436-4bf0-b47f-66e45e3e1d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2450ca-4f19-4ad8-a8d0-442464c34c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d28957-8436-4bf0-b47f-66e45e3e1df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23FD55-C22B-4CD3-8817-445B1AFC31CD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87722534-C82D-4B3C-9A33-9C35A94501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A7D39A-55E5-4FBA-B5FD-8B0490BF3495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c90f5cc1-e2a3-41b6-acc4-6441407837b0"/>
    <ds:schemaRef ds:uri="http://www.w3.org/XML/1998/namespace"/>
    <ds:schemaRef ds:uri="http://purl.org/dc/dcmitype/"/>
    <ds:schemaRef ds:uri="18d28957-8436-4bf0-b47f-66e45e3e1df9"/>
  </ds:schemaRefs>
</ds:datastoreItem>
</file>

<file path=customXml/itemProps4.xml><?xml version="1.0" encoding="utf-8"?>
<ds:datastoreItem xmlns:ds="http://schemas.openxmlformats.org/officeDocument/2006/customXml" ds:itemID="{1BC6593B-D7D4-4540-B8E3-9A1FA7A28E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2450ca-4f19-4ad8-a8d0-442464c34c09"/>
    <ds:schemaRef ds:uri="18d28957-8436-4bf0-b47f-66e45e3e1d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20627</TotalTime>
  <Words>363</Words>
  <Application>Microsoft Office PowerPoint</Application>
  <PresentationFormat>A4 Paper (210x297 mm)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EYInterstate</vt:lpstr>
      <vt:lpstr>Ubuntu</vt:lpstr>
      <vt:lpstr>Ubuntu Medium</vt:lpstr>
      <vt:lpstr>Wingdings</vt:lpstr>
      <vt:lpstr>1_Capgemini - PPT Template - ITS</vt:lpstr>
      <vt:lpstr>Test Manager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 Albiston – Lead Business Analyst</dc:title>
  <dc:subject>BTS CV postcard</dc:subject>
  <dc:creator>Your Name Here</dc:creator>
  <cp:lastModifiedBy>Jain, Manish</cp:lastModifiedBy>
  <cp:revision>609</cp:revision>
  <dcterms:created xsi:type="dcterms:W3CDTF">2009-07-02T16:17:48Z</dcterms:created>
  <dcterms:modified xsi:type="dcterms:W3CDTF">2023-10-23T15:34:44Z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ContentTypeId">
    <vt:lpwstr>0x010100FF64FA928BD31D4B882E19CD7E61262D</vt:lpwstr>
  </property>
  <property fmtid="{D5CDD505-2E9C-101B-9397-08002B2CF9AE}" pid="4" name="Profile Type">
    <vt:lpwstr>External</vt:lpwstr>
  </property>
  <property fmtid="{D5CDD505-2E9C-101B-9397-08002B2CF9AE}" pid="5" name="Version">
    <vt:lpwstr>BTS v0.1</vt:lpwstr>
  </property>
  <property fmtid="{D5CDD505-2E9C-101B-9397-08002B2CF9AE}" pid="6" name="Original Filename">
    <vt:lpwstr>Rodney Falstaff.pptx</vt:lpwstr>
  </property>
  <property fmtid="{D5CDD505-2E9C-101B-9397-08002B2CF9AE}" pid="7" name="Team">
    <vt:lpwstr>BTS</vt:lpwstr>
  </property>
</Properties>
</file>